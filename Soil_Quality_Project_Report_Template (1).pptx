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120" y="-19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8380" y="847598"/>
            <a:ext cx="5755640" cy="5501506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967864" marR="1962150" algn="ctr">
              <a:lnSpc>
                <a:spcPts val="1839"/>
              </a:lnSpc>
              <a:spcBef>
                <a:spcPts val="220"/>
              </a:spcBef>
            </a:pPr>
            <a:r>
              <a:rPr sz="1600" b="1" dirty="0">
                <a:solidFill>
                  <a:srgbClr val="ED0000"/>
                </a:solidFill>
                <a:latin typeface="Times New Roman"/>
                <a:cs typeface="Times New Roman"/>
              </a:rPr>
              <a:t>A</a:t>
            </a:r>
            <a:r>
              <a:rPr sz="1600" b="1" spc="-10" dirty="0">
                <a:solidFill>
                  <a:srgbClr val="ED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ED0000"/>
                </a:solidFill>
                <a:latin typeface="Times New Roman"/>
                <a:cs typeface="Times New Roman"/>
              </a:rPr>
              <a:t>PROJECT</a:t>
            </a:r>
            <a:r>
              <a:rPr sz="1600" b="1" spc="-15" dirty="0">
                <a:solidFill>
                  <a:srgbClr val="ED000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ED0000"/>
                </a:solidFill>
                <a:latin typeface="Times New Roman"/>
                <a:cs typeface="Times New Roman"/>
              </a:rPr>
              <a:t>TITLE </a:t>
            </a:r>
            <a:r>
              <a:rPr sz="1600" b="1" spc="-25" dirty="0">
                <a:solidFill>
                  <a:srgbClr val="ED0000"/>
                </a:solidFill>
                <a:latin typeface="Times New Roman"/>
                <a:cs typeface="Times New Roman"/>
              </a:rPr>
              <a:t>ON</a:t>
            </a:r>
            <a:endParaRPr sz="16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290"/>
              </a:lnSpc>
              <a:spcBef>
                <a:spcPts val="15"/>
              </a:spcBef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Soil</a:t>
            </a:r>
            <a:r>
              <a:rPr sz="20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Quality</a:t>
            </a:r>
            <a:r>
              <a:rPr sz="20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Classification</a:t>
            </a:r>
            <a:r>
              <a:rPr sz="20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0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Random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Forest</a:t>
            </a:r>
            <a:r>
              <a:rPr sz="20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and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Decision</a:t>
            </a:r>
            <a:r>
              <a:rPr sz="20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Tree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ts val="1565"/>
              </a:lnSpc>
            </a:pP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project</a:t>
            </a:r>
            <a:r>
              <a:rPr sz="1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report</a:t>
            </a:r>
            <a:r>
              <a:rPr sz="1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submitted</a:t>
            </a:r>
            <a:r>
              <a:rPr sz="1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1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partial</a:t>
            </a:r>
            <a:r>
              <a:rPr sz="14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fulfilment</a:t>
            </a:r>
            <a:r>
              <a:rPr sz="1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1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1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requirements</a:t>
            </a:r>
            <a:r>
              <a:rPr sz="14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for</a:t>
            </a:r>
            <a:r>
              <a:rPr sz="14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14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Times New Roman"/>
                <a:cs typeface="Times New Roman"/>
              </a:rPr>
              <a:t>Course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05865" marR="1200785" algn="ctr">
              <a:lnSpc>
                <a:spcPts val="1839"/>
              </a:lnSpc>
            </a:pPr>
            <a:r>
              <a:rPr sz="1600" b="1" dirty="0">
                <a:latin typeface="Times New Roman"/>
                <a:cs typeface="Times New Roman"/>
              </a:rPr>
              <a:t>MACHINE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LEARNING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(25SC2107E) </a:t>
            </a:r>
            <a:r>
              <a:rPr sz="1600" b="1" dirty="0">
                <a:latin typeface="Times New Roman"/>
                <a:cs typeface="Times New Roman"/>
              </a:rPr>
              <a:t>BACHELOR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TECHNOLOGY</a:t>
            </a:r>
            <a:endParaRPr sz="1600" dirty="0">
              <a:latin typeface="Times New Roman"/>
              <a:cs typeface="Times New Roman"/>
            </a:endParaRPr>
          </a:p>
          <a:p>
            <a:pPr algn="ctr">
              <a:lnSpc>
                <a:spcPts val="1530"/>
              </a:lnSpc>
            </a:pPr>
            <a:r>
              <a:rPr sz="1400" b="1" spc="-25" dirty="0">
                <a:latin typeface="Times New Roman"/>
                <a:cs typeface="Times New Roman"/>
              </a:rPr>
              <a:t>In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ts val="1645"/>
              </a:lnSpc>
            </a:pPr>
            <a:r>
              <a:rPr sz="1400" b="1" dirty="0">
                <a:latin typeface="Times New Roman"/>
                <a:cs typeface="Times New Roman"/>
              </a:rPr>
              <a:t>A.Y.: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2026-</a:t>
            </a:r>
            <a:r>
              <a:rPr sz="1400" b="1" spc="-25" dirty="0">
                <a:latin typeface="Times New Roman"/>
                <a:cs typeface="Times New Roman"/>
              </a:rPr>
              <a:t>27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latin typeface="Times New Roman"/>
                <a:cs typeface="Times New Roman"/>
              </a:rPr>
              <a:t>By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918970">
              <a:lnSpc>
                <a:spcPts val="1650"/>
              </a:lnSpc>
            </a:pPr>
            <a:r>
              <a:rPr lang="en-US" sz="1400" b="1" spc="-30" dirty="0">
                <a:latin typeface="Times New Roman"/>
                <a:cs typeface="Times New Roman"/>
              </a:rPr>
              <a:t>J . Shashank 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—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lang="en-US" sz="1400" b="1" spc="-20" dirty="0">
                <a:latin typeface="Times New Roman"/>
                <a:cs typeface="Times New Roman"/>
              </a:rPr>
              <a:t>2520030433</a:t>
            </a:r>
            <a:endParaRPr sz="1400" dirty="0">
              <a:latin typeface="Times New Roman"/>
              <a:cs typeface="Times New Roman"/>
            </a:endParaRPr>
          </a:p>
          <a:p>
            <a:pPr marL="1903730">
              <a:lnSpc>
                <a:spcPts val="1614"/>
              </a:lnSpc>
            </a:pPr>
            <a:r>
              <a:rPr lang="en-US" sz="1400" b="1" spc="-10" dirty="0">
                <a:latin typeface="Times New Roman"/>
                <a:cs typeface="Times New Roman"/>
              </a:rPr>
              <a:t>K. Revanth 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—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2520030</a:t>
            </a:r>
            <a:r>
              <a:rPr lang="en-US" sz="1400" b="1" spc="-10" dirty="0">
                <a:latin typeface="Times New Roman"/>
                <a:cs typeface="Times New Roman"/>
              </a:rPr>
              <a:t>545</a:t>
            </a:r>
            <a:endParaRPr sz="1400" dirty="0">
              <a:latin typeface="Times New Roman"/>
              <a:cs typeface="Times New Roman"/>
            </a:endParaRPr>
          </a:p>
          <a:p>
            <a:pPr marL="1541145">
              <a:lnSpc>
                <a:spcPts val="1645"/>
              </a:lnSpc>
            </a:pPr>
            <a:r>
              <a:rPr lang="en-US" sz="1400" b="1" spc="-30" dirty="0">
                <a:latin typeface="Times New Roman"/>
                <a:cs typeface="Times New Roman"/>
              </a:rPr>
              <a:t>B . Chenna </a:t>
            </a:r>
            <a:r>
              <a:rPr lang="en-US" sz="1400" b="1" spc="-30" dirty="0" err="1">
                <a:latin typeface="Times New Roman"/>
                <a:cs typeface="Times New Roman"/>
              </a:rPr>
              <a:t>Malleswar</a:t>
            </a:r>
            <a:r>
              <a:rPr lang="en-US" sz="1400" b="1" spc="-30" dirty="0">
                <a:latin typeface="Times New Roman"/>
                <a:cs typeface="Times New Roman"/>
              </a:rPr>
              <a:t> 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—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2520030</a:t>
            </a:r>
            <a:r>
              <a:rPr lang="en-US" sz="1400" b="1" spc="-10" dirty="0">
                <a:latin typeface="Times New Roman"/>
                <a:cs typeface="Times New Roman"/>
              </a:rPr>
              <a:t>546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ts val="1650"/>
              </a:lnSpc>
            </a:pPr>
            <a:r>
              <a:rPr sz="1400" b="1" dirty="0">
                <a:latin typeface="Times New Roman"/>
                <a:cs typeface="Times New Roman"/>
              </a:rPr>
              <a:t>Under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Esteemed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guidance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  <a:p>
            <a:pPr marL="2080260" marR="2072005" algn="ctr">
              <a:lnSpc>
                <a:spcPts val="1610"/>
              </a:lnSpc>
              <a:spcBef>
                <a:spcPts val="80"/>
              </a:spcBef>
            </a:pPr>
            <a:r>
              <a:rPr sz="1400" dirty="0">
                <a:latin typeface="Times New Roman"/>
                <a:cs typeface="Times New Roman"/>
              </a:rPr>
              <a:t>Mr.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Ravindra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Babu </a:t>
            </a:r>
            <a:r>
              <a:rPr sz="1400" dirty="0">
                <a:latin typeface="Times New Roman"/>
                <a:cs typeface="Times New Roman"/>
              </a:rPr>
              <a:t>Professor,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CSE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Department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7539" y="6580505"/>
            <a:ext cx="1416024" cy="14217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8319769"/>
            <a:ext cx="6400457" cy="7216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1309561"/>
            <a:ext cx="6461760" cy="783335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b="1" spc="-10" dirty="0">
                <a:solidFill>
                  <a:srgbClr val="365F91"/>
                </a:solidFill>
                <a:latin typeface="Times New Roman"/>
                <a:cs typeface="Times New Roman"/>
              </a:rPr>
              <a:t>Abstract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02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presents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classifying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supervised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tree-based </a:t>
            </a:r>
            <a:r>
              <a:rPr sz="1100" dirty="0">
                <a:latin typeface="Times New Roman"/>
                <a:cs typeface="Times New Roman"/>
              </a:rPr>
              <a:t>algorithms,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Forest.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study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covers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collection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preprocessing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soil </a:t>
            </a:r>
            <a:r>
              <a:rPr sz="1100" dirty="0">
                <a:latin typeface="Times New Roman"/>
                <a:cs typeface="Times New Roman"/>
              </a:rPr>
              <a:t>parameters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nitrogen,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phosphorus,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potassium,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organic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matter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moisture,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missing-value </a:t>
            </a:r>
            <a:r>
              <a:rPr sz="1100" dirty="0">
                <a:latin typeface="Times New Roman"/>
                <a:cs typeface="Times New Roman"/>
              </a:rPr>
              <a:t>imputation,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encoding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engineering.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Gini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impurity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entropy-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splitting,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pruning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control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overfitting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bias–</a:t>
            </a:r>
            <a:r>
              <a:rPr sz="1100" dirty="0">
                <a:latin typeface="Times New Roman"/>
                <a:cs typeface="Times New Roman"/>
              </a:rPr>
              <a:t>variance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trade-</a:t>
            </a:r>
            <a:r>
              <a:rPr sz="1100" dirty="0">
                <a:latin typeface="Times New Roman"/>
                <a:cs typeface="Times New Roman"/>
              </a:rPr>
              <a:t>off.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Forest </a:t>
            </a:r>
            <a:r>
              <a:rPr sz="1100" dirty="0">
                <a:latin typeface="Times New Roman"/>
                <a:cs typeface="Times New Roman"/>
              </a:rPr>
              <a:t>ensemble,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bagging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subsampling,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variance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generalization </a:t>
            </a:r>
            <a:r>
              <a:rPr sz="1100" dirty="0">
                <a:latin typeface="Times New Roman"/>
                <a:cs typeface="Times New Roman"/>
              </a:rPr>
              <a:t>on unseen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samples.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 accuracy,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precision,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recall,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F1-</a:t>
            </a:r>
            <a:r>
              <a:rPr sz="1100" dirty="0">
                <a:latin typeface="Times New Roman"/>
                <a:cs typeface="Times New Roman"/>
              </a:rPr>
              <a:t>score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 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confusion</a:t>
            </a:r>
            <a:r>
              <a:rPr sz="1100" spc="-10" dirty="0">
                <a:latin typeface="Times New Roman"/>
                <a:cs typeface="Times New Roman"/>
              </a:rPr>
              <a:t> matrix,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cross-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obtain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leakage.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Feature-</a:t>
            </a:r>
            <a:r>
              <a:rPr sz="1100" dirty="0">
                <a:latin typeface="Times New Roman"/>
                <a:cs typeface="Times New Roman"/>
              </a:rPr>
              <a:t>importance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analysis </a:t>
            </a:r>
            <a:r>
              <a:rPr sz="1100" dirty="0">
                <a:latin typeface="Times New Roman"/>
                <a:cs typeface="Times New Roman"/>
              </a:rPr>
              <a:t>identifies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attributes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influence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comparative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study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examines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whether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ensemble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stability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real-</a:t>
            </a:r>
            <a:r>
              <a:rPr sz="1100" dirty="0">
                <a:latin typeface="Times New Roman"/>
                <a:cs typeface="Times New Roman"/>
              </a:rPr>
              <a:t>world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quality prediction.</a:t>
            </a:r>
            <a:endParaRPr sz="1100">
              <a:latin typeface="Times New Roman"/>
              <a:cs typeface="Times New Roman"/>
            </a:endParaRPr>
          </a:p>
          <a:p>
            <a:pPr marL="12700" marR="62865" algn="just">
              <a:lnSpc>
                <a:spcPct val="110000"/>
              </a:lnSpc>
              <a:spcBef>
                <a:spcPts val="1000"/>
              </a:spcBef>
            </a:pPr>
            <a:r>
              <a:rPr sz="1100" dirty="0">
                <a:latin typeface="Times New Roman"/>
                <a:cs typeface="Times New Roman"/>
              </a:rPr>
              <a:t>Keywords: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Precision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Agriculture,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Importance, Cross-Validation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100">
              <a:latin typeface="Times New Roman"/>
              <a:cs typeface="Times New Roman"/>
            </a:endParaRPr>
          </a:p>
          <a:p>
            <a:pPr marL="189865" indent="-1771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89865" algn="l"/>
              </a:tabLst>
            </a:pPr>
            <a:r>
              <a:rPr sz="1400" b="1" spc="-10" dirty="0">
                <a:solidFill>
                  <a:srgbClr val="365F91"/>
                </a:solidFill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Purpose</a:t>
            </a:r>
            <a:r>
              <a:rPr sz="1300" b="1" spc="-2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of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the</a:t>
            </a:r>
            <a:r>
              <a:rPr sz="1300" b="1" spc="-3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Project</a:t>
            </a:r>
            <a:endParaRPr sz="1300">
              <a:latin typeface="Times New Roman"/>
              <a:cs typeface="Times New Roman"/>
            </a:endParaRPr>
          </a:p>
          <a:p>
            <a:pPr marL="12700" marR="95885">
              <a:lnSpc>
                <a:spcPct val="110000"/>
              </a:lnSpc>
              <a:spcBef>
                <a:spcPts val="40"/>
              </a:spcBef>
            </a:pP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agricultural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productivity,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influences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crop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yield,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resource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utilization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long-</a:t>
            </a:r>
            <a:r>
              <a:rPr sz="1100" dirty="0">
                <a:latin typeface="Times New Roman"/>
                <a:cs typeface="Times New Roman"/>
              </a:rPr>
              <a:t>term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land sustainability.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Traditionally,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assessment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laboratory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interpretation,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time-</a:t>
            </a:r>
            <a:r>
              <a:rPr sz="1100" dirty="0">
                <a:latin typeface="Times New Roman"/>
                <a:cs typeface="Times New Roman"/>
              </a:rPr>
              <a:t>consuming,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resource-</a:t>
            </a:r>
            <a:r>
              <a:rPr sz="1100" dirty="0">
                <a:latin typeface="Times New Roman"/>
                <a:cs typeface="Times New Roman"/>
              </a:rPr>
              <a:t>intensive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inaccessible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latin typeface="Times New Roman"/>
                <a:cs typeface="Times New Roman"/>
              </a:rPr>
              <a:t>marginal farmers.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 depends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several interacting parameters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nitrogen,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phosphorus,</a:t>
            </a:r>
            <a:endParaRPr sz="1100">
              <a:latin typeface="Times New Roman"/>
              <a:cs typeface="Times New Roman"/>
            </a:endParaRPr>
          </a:p>
          <a:p>
            <a:pPr marL="12700" marR="116839">
              <a:lnSpc>
                <a:spcPct val="1100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potassium,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organic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matter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moisture,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struggles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timely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agricultural decisions.</a:t>
            </a:r>
            <a:endParaRPr sz="1100">
              <a:latin typeface="Times New Roman"/>
              <a:cs typeface="Times New Roman"/>
            </a:endParaRPr>
          </a:p>
          <a:p>
            <a:pPr marL="12700" marR="98425">
              <a:lnSpc>
                <a:spcPct val="110200"/>
              </a:lnSpc>
              <a:spcBef>
                <a:spcPts val="994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motivated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explainable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alternative.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stakeholders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are </a:t>
            </a:r>
            <a:r>
              <a:rPr sz="1100" dirty="0">
                <a:latin typeface="Times New Roman"/>
                <a:cs typeface="Times New Roman"/>
              </a:rPr>
              <a:t>farmers,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agronomists,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agricultural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extension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workers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land-</a:t>
            </a: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planners,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soil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predictions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crop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planning, smarter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fertilizer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resource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machine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patterns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historical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samples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near-</a:t>
            </a:r>
            <a:r>
              <a:rPr sz="1100" dirty="0">
                <a:latin typeface="Times New Roman"/>
                <a:cs typeface="Times New Roman"/>
              </a:rPr>
              <a:t>instant predictions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once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soil </a:t>
            </a:r>
            <a:r>
              <a:rPr sz="1100" dirty="0">
                <a:latin typeface="Times New Roman"/>
                <a:cs typeface="Times New Roman"/>
              </a:rPr>
              <a:t>parameters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entered,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sample.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20"/>
              </a:spcBef>
              <a:buAutoNum type="arabicPeriod" startAt="2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Problem</a:t>
            </a:r>
            <a:r>
              <a:rPr sz="1300" b="1" spc="-4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Statement</a:t>
            </a:r>
            <a:endParaRPr sz="1300">
              <a:latin typeface="Times New Roman"/>
              <a:cs typeface="Times New Roman"/>
            </a:endParaRPr>
          </a:p>
          <a:p>
            <a:pPr marL="12700" marR="43180">
              <a:lnSpc>
                <a:spcPct val="110200"/>
              </a:lnSpc>
              <a:spcBef>
                <a:spcPts val="4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formulated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supervised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multi-class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task. Given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 sample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described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pH, </a:t>
            </a:r>
            <a:r>
              <a:rPr sz="1100" dirty="0">
                <a:latin typeface="Times New Roman"/>
                <a:cs typeface="Times New Roman"/>
              </a:rPr>
              <a:t>nitrogen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(N),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phosphorus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(P),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potassium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(K),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organic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moisture,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class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sample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(for example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 Moderate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Good,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used).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expected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predicted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sample,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together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20" dirty="0">
                <a:latin typeface="Times New Roman"/>
                <a:cs typeface="Times New Roman"/>
              </a:rPr>
              <a:t> Tree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models.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20"/>
              </a:spcBef>
              <a:buAutoNum type="arabicPeriod" startAt="3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Existing</a:t>
            </a:r>
            <a:r>
              <a:rPr sz="1300" b="1" spc="-3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Methods</a:t>
            </a:r>
            <a:r>
              <a:rPr sz="1300" b="1" spc="-3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and</a:t>
            </a:r>
            <a:r>
              <a:rPr sz="1300" b="1" spc="-2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Disadvantages</a:t>
            </a:r>
            <a:endParaRPr sz="1300">
              <a:latin typeface="Times New Roman"/>
              <a:cs typeface="Times New Roman"/>
            </a:endParaRPr>
          </a:p>
          <a:p>
            <a:pPr marL="12700" marR="59690">
              <a:lnSpc>
                <a:spcPct val="110000"/>
              </a:lnSpc>
              <a:spcBef>
                <a:spcPts val="45"/>
              </a:spcBef>
            </a:pPr>
            <a:r>
              <a:rPr sz="1100" dirty="0">
                <a:latin typeface="Times New Roman"/>
                <a:cs typeface="Times New Roman"/>
              </a:rPr>
              <a:t>Conventional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assessment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depends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laboratory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judgement.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are </a:t>
            </a:r>
            <a:r>
              <a:rPr sz="1100" dirty="0">
                <a:latin typeface="Times New Roman"/>
                <a:cs typeface="Times New Roman"/>
              </a:rPr>
              <a:t>slow,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costly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difficult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samples,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 farmers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make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01218"/>
            <a:ext cx="6446520" cy="5816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7625">
              <a:lnSpc>
                <a:spcPct val="1100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Fixed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rule-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threshold-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miss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interactions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among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parameters,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since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health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determined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 several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attributes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together.</a:t>
            </a:r>
            <a:endParaRPr sz="1100">
              <a:latin typeface="Times New Roman"/>
              <a:cs typeface="Times New Roman"/>
            </a:endParaRPr>
          </a:p>
          <a:p>
            <a:pPr marL="12700" marR="65405">
              <a:lnSpc>
                <a:spcPct val="110200"/>
              </a:lnSpc>
              <a:spcBef>
                <a:spcPts val="994"/>
              </a:spcBef>
            </a:pPr>
            <a:r>
              <a:rPr sz="1100" dirty="0">
                <a:latin typeface="Times New Roman"/>
                <a:cs typeface="Times New Roman"/>
              </a:rPr>
              <a:t>Among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data-</a:t>
            </a:r>
            <a:r>
              <a:rPr sz="1100" dirty="0">
                <a:latin typeface="Times New Roman"/>
                <a:cs typeface="Times New Roman"/>
              </a:rPr>
              <a:t>driven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methods, 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 Decision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tends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overfit,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sensitive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small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variance.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Ensemble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10" dirty="0">
                <a:latin typeface="Times New Roman"/>
                <a:cs typeface="Times New Roman"/>
              </a:rPr>
              <a:t> variance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less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transparent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unless</a:t>
            </a:r>
            <a:r>
              <a:rPr sz="1100" spc="-10" dirty="0">
                <a:latin typeface="Times New Roman"/>
                <a:cs typeface="Times New Roman"/>
              </a:rPr>
              <a:t> feature-</a:t>
            </a:r>
            <a:r>
              <a:rPr sz="1100" dirty="0">
                <a:latin typeface="Times New Roman"/>
                <a:cs typeface="Times New Roman"/>
              </a:rPr>
              <a:t>importance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 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added. All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still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-10" dirty="0">
                <a:latin typeface="Times New Roman"/>
                <a:cs typeface="Times New Roman"/>
              </a:rPr>
              <a:t> careful </a:t>
            </a:r>
            <a:r>
              <a:rPr sz="1100" dirty="0">
                <a:latin typeface="Times New Roman"/>
                <a:cs typeface="Times New Roman"/>
              </a:rPr>
              <a:t>preprocessing,</a:t>
            </a:r>
            <a:r>
              <a:rPr sz="1100" spc="-10" dirty="0">
                <a:latin typeface="Times New Roman"/>
                <a:cs typeface="Times New Roman"/>
              </a:rPr>
              <a:t> missing-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leakage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trusted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spc="-10" dirty="0">
                <a:latin typeface="Times New Roman"/>
                <a:cs typeface="Times New Roman"/>
              </a:rPr>
              <a:t>real-</a:t>
            </a:r>
            <a:r>
              <a:rPr sz="1100" dirty="0">
                <a:latin typeface="Times New Roman"/>
                <a:cs typeface="Times New Roman"/>
              </a:rPr>
              <a:t>world agricultural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use.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35"/>
              </a:spcBef>
              <a:buAutoNum type="arabicPeriod" startAt="4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Proposed</a:t>
            </a:r>
            <a:r>
              <a:rPr sz="1300" b="1" spc="-4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System</a:t>
            </a:r>
            <a:endParaRPr sz="1300">
              <a:latin typeface="Times New Roman"/>
              <a:cs typeface="Times New Roman"/>
            </a:endParaRPr>
          </a:p>
          <a:p>
            <a:pPr marL="12700" marR="27305">
              <a:lnSpc>
                <a:spcPct val="110200"/>
              </a:lnSpc>
              <a:spcBef>
                <a:spcPts val="2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proposed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follows 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pipeline: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 cleaning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missing-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imputation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encoding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train/test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split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(Gini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entropy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criteria,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pruning) →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Random </a:t>
            </a:r>
            <a:r>
              <a:rPr sz="1100" dirty="0">
                <a:latin typeface="Times New Roman"/>
                <a:cs typeface="Times New Roman"/>
              </a:rPr>
              <a:t>Forest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(bagging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subsampling)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10" dirty="0">
                <a:latin typeface="Times New Roman"/>
                <a:cs typeface="Times New Roman"/>
              </a:rPr>
              <a:t> cross-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precision,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recall,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F1-</a:t>
            </a:r>
            <a:r>
              <a:rPr sz="1100" dirty="0">
                <a:latin typeface="Times New Roman"/>
                <a:cs typeface="Times New Roman"/>
              </a:rPr>
              <a:t>score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confusion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matrix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feature-</a:t>
            </a:r>
            <a:r>
              <a:rPr sz="1100" dirty="0">
                <a:latin typeface="Times New Roman"/>
                <a:cs typeface="Times New Roman"/>
              </a:rPr>
              <a:t>importance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 split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cross-</a:t>
            </a:r>
            <a:r>
              <a:rPr sz="1100" dirty="0">
                <a:latin typeface="Times New Roman"/>
                <a:cs typeface="Times New Roman"/>
              </a:rPr>
              <a:t>validation scheme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are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comparison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fair.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expected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contribution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reproducible,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soil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workflow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evidence-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comparison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ensemble.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35"/>
              </a:spcBef>
              <a:buAutoNum type="arabicPeriod" startAt="5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Research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Objectives(</a:t>
            </a:r>
            <a:r>
              <a:rPr sz="1300" b="1" spc="-5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atleast</a:t>
            </a:r>
            <a:r>
              <a:rPr sz="1300" b="1" spc="-4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25" dirty="0">
                <a:solidFill>
                  <a:srgbClr val="4F81BC"/>
                </a:solidFill>
                <a:latin typeface="Times New Roman"/>
                <a:cs typeface="Times New Roman"/>
              </a:rPr>
              <a:t>4)</a:t>
            </a:r>
            <a:endParaRPr sz="13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240029" algn="l"/>
              </a:tabLst>
            </a:pPr>
            <a:r>
              <a:rPr sz="1100" dirty="0">
                <a:latin typeface="Times New Roman"/>
                <a:cs typeface="Times New Roman"/>
              </a:rPr>
              <a:t>Collect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prepare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 dataset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organic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matter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moisture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10" dirty="0">
                <a:latin typeface="Times New Roman"/>
                <a:cs typeface="Times New Roman"/>
              </a:rPr>
              <a:t> label.</a:t>
            </a:r>
            <a:endParaRPr sz="11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240029" algn="l"/>
              </a:tabLst>
            </a:pPr>
            <a:r>
              <a:rPr sz="1100" dirty="0">
                <a:latin typeface="Times New Roman"/>
                <a:cs typeface="Times New Roman"/>
              </a:rPr>
              <a:t>Perform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preprocessing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(cleaning,</a:t>
            </a:r>
            <a:r>
              <a:rPr sz="1100" spc="-10" dirty="0">
                <a:latin typeface="Times New Roman"/>
                <a:cs typeface="Times New Roman"/>
              </a:rPr>
              <a:t> missing-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imputation,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encoding) 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exploratory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10" dirty="0">
                <a:latin typeface="Times New Roman"/>
                <a:cs typeface="Times New Roman"/>
              </a:rPr>
              <a:t> analysis.</a:t>
            </a:r>
            <a:endParaRPr sz="11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240029" algn="l"/>
              </a:tabLst>
            </a:pPr>
            <a:r>
              <a:rPr sz="1100" dirty="0">
                <a:latin typeface="Times New Roman"/>
                <a:cs typeface="Times New Roman"/>
              </a:rPr>
              <a:t>Engineer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leakage.</a:t>
            </a:r>
            <a:endParaRPr sz="11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240029" algn="l"/>
              </a:tabLst>
            </a:pPr>
            <a:r>
              <a:rPr sz="1100" dirty="0">
                <a:latin typeface="Times New Roman"/>
                <a:cs typeface="Times New Roman"/>
              </a:rPr>
              <a:t>Build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Gini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impurity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entropy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criteria,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pruning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control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overfitting.</a:t>
            </a:r>
            <a:endParaRPr sz="1100">
              <a:latin typeface="Times New Roman"/>
              <a:cs typeface="Times New Roman"/>
            </a:endParaRPr>
          </a:p>
          <a:p>
            <a:pPr marL="240029" marR="198120" indent="-227329">
              <a:lnSpc>
                <a:spcPct val="110000"/>
              </a:lnSpc>
              <a:buAutoNum type="arabicPeriod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Train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ensemble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bagging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subsampling,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Decision 	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 precision,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recall,</a:t>
            </a:r>
            <a:r>
              <a:rPr sz="1100" spc="-10" dirty="0">
                <a:latin typeface="Times New Roman"/>
                <a:cs typeface="Times New Roman"/>
              </a:rPr>
              <a:t> F1-</a:t>
            </a:r>
            <a:r>
              <a:rPr sz="1100" dirty="0">
                <a:latin typeface="Times New Roman"/>
                <a:cs typeface="Times New Roman"/>
              </a:rPr>
              <a:t>score,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confusion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matrix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cross-validation.</a:t>
            </a:r>
            <a:endParaRPr sz="1100">
              <a:latin typeface="Times New Roman"/>
              <a:cs typeface="Times New Roman"/>
            </a:endParaRPr>
          </a:p>
          <a:p>
            <a:pPr marL="240029" marR="730885" indent="-227329">
              <a:lnSpc>
                <a:spcPct val="110000"/>
              </a:lnSpc>
              <a:spcBef>
                <a:spcPts val="15"/>
              </a:spcBef>
              <a:buAutoNum type="arabicPeriod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Analyse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importance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influential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attributes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discuss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practical 	</a:t>
            </a:r>
            <a:r>
              <a:rPr sz="1100" dirty="0">
                <a:latin typeface="Times New Roman"/>
                <a:cs typeface="Times New Roman"/>
              </a:rPr>
              <a:t>applicability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best</a:t>
            </a:r>
            <a:r>
              <a:rPr sz="1100" spc="-10" dirty="0">
                <a:latin typeface="Times New Roman"/>
                <a:cs typeface="Times New Roman"/>
              </a:rPr>
              <a:t> model.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2.</a:t>
            </a:r>
            <a:r>
              <a:rPr sz="1400" b="1" spc="-3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Literature</a:t>
            </a:r>
            <a:r>
              <a:rPr sz="1400" b="1" spc="-3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Survey</a:t>
            </a:r>
            <a:r>
              <a:rPr sz="1400" b="1" spc="-3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(recent</a:t>
            </a:r>
            <a:r>
              <a:rPr sz="1400" b="1" spc="-2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studies</a:t>
            </a:r>
            <a:r>
              <a:rPr sz="1400" b="1" spc="-3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from</a:t>
            </a:r>
            <a:r>
              <a:rPr sz="1400" b="1" spc="-3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2-3</a:t>
            </a:r>
            <a:r>
              <a:rPr sz="1400" b="1" spc="-3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65F91"/>
                </a:solidFill>
                <a:latin typeface="Times New Roman"/>
                <a:cs typeface="Times New Roman"/>
              </a:rPr>
              <a:t>years)</a:t>
            </a:r>
            <a:endParaRPr sz="1400">
              <a:latin typeface="Times New Roman"/>
              <a:cs typeface="Times New Roman"/>
            </a:endParaRPr>
          </a:p>
          <a:p>
            <a:pPr marL="12700" marR="264160">
              <a:lnSpc>
                <a:spcPct val="1105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Review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studies.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Verify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bibliographic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details,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DOI,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volume,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issue,</a:t>
            </a:r>
            <a:r>
              <a:rPr sz="1100" spc="-10" dirty="0">
                <a:latin typeface="Times New Roman"/>
                <a:cs typeface="Times New Roman"/>
              </a:rPr>
              <a:t> pages/article </a:t>
            </a:r>
            <a:r>
              <a:rPr sz="1100" dirty="0">
                <a:latin typeface="Times New Roman"/>
                <a:cs typeface="Times New Roman"/>
              </a:rPr>
              <a:t>number,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year before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submission.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NOTE: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rows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below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topic-</a:t>
            </a:r>
            <a:r>
              <a:rPr sz="1100" dirty="0">
                <a:latin typeface="Times New Roman"/>
                <a:cs typeface="Times New Roman"/>
              </a:rPr>
              <a:t>level drafts;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replace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Title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Reference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columns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papers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adjust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columns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-10" dirty="0">
                <a:latin typeface="Times New Roman"/>
                <a:cs typeface="Times New Roman"/>
              </a:rPr>
              <a:t> paper.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4172" y="6558280"/>
          <a:ext cx="6620509" cy="2839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6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9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marL="67945">
                        <a:lnSpc>
                          <a:spcPts val="930"/>
                        </a:lnSpc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S.No.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30"/>
                        </a:lnSpc>
                      </a:pP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96215">
                        <a:lnSpc>
                          <a:spcPts val="910"/>
                        </a:lnSpc>
                        <a:spcBef>
                          <a:spcPts val="40"/>
                        </a:spcBef>
                      </a:pPr>
                      <a:r>
                        <a:rPr sz="800" b="1" dirty="0">
                          <a:latin typeface="Times New Roman"/>
                          <a:cs typeface="Times New Roman"/>
                        </a:rPr>
                        <a:t>Reference</a:t>
                      </a:r>
                      <a:r>
                        <a:rPr sz="8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8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DOI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86995">
                        <a:lnSpc>
                          <a:spcPts val="910"/>
                        </a:lnSpc>
                        <a:spcBef>
                          <a:spcPts val="40"/>
                        </a:spcBef>
                      </a:pPr>
                      <a:r>
                        <a:rPr sz="800" b="1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 or</a:t>
                      </a:r>
                      <a:r>
                        <a:rPr sz="8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gap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addressed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49225">
                        <a:lnSpc>
                          <a:spcPts val="910"/>
                        </a:lnSpc>
                        <a:spcBef>
                          <a:spcPts val="40"/>
                        </a:spcBef>
                      </a:pPr>
                      <a:r>
                        <a:rPr sz="800" b="1" dirty="0">
                          <a:latin typeface="Times New Roman"/>
                          <a:cs typeface="Times New Roman"/>
                        </a:rPr>
                        <a:t>Objective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8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Research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85420">
                        <a:lnSpc>
                          <a:spcPct val="95800"/>
                        </a:lnSpc>
                      </a:pPr>
                      <a:r>
                        <a:rPr sz="800" b="1" dirty="0">
                          <a:latin typeface="Times New Roman"/>
                          <a:cs typeface="Times New Roman"/>
                        </a:rPr>
                        <a:t>Focus</a:t>
                      </a:r>
                      <a:r>
                        <a:rPr sz="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8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8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(Methods</a:t>
                      </a:r>
                      <a:r>
                        <a:rPr sz="8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used)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930"/>
                        </a:lnSpc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Inference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62230">
                        <a:lnSpc>
                          <a:spcPct val="95600"/>
                        </a:lnSpc>
                        <a:spcBef>
                          <a:spcPts val="1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Recommendations</a:t>
                      </a:r>
                      <a:r>
                        <a:rPr sz="8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8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future</a:t>
                      </a:r>
                      <a:r>
                        <a:rPr sz="8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research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16839">
                        <a:lnSpc>
                          <a:spcPct val="95400"/>
                        </a:lnSpc>
                        <a:spcBef>
                          <a:spcPts val="470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fertility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1594">
                        <a:lnSpc>
                          <a:spcPct val="95400"/>
                        </a:lnSpc>
                        <a:spcBef>
                          <a:spcPts val="470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[Add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authors,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year,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journal/conference,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volume/pages,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DOI]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24460">
                        <a:lnSpc>
                          <a:spcPct val="95400"/>
                        </a:lnSpc>
                        <a:spcBef>
                          <a:spcPts val="470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lab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slow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scalable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73025">
                        <a:lnSpc>
                          <a:spcPct val="95400"/>
                        </a:lnSpc>
                        <a:spcBef>
                          <a:spcPts val="470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Classify</a:t>
                      </a:r>
                      <a:r>
                        <a:rPr sz="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fertility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nutrient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pH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78435">
                        <a:lnSpc>
                          <a:spcPct val="95600"/>
                        </a:lnSpc>
                        <a:spcBef>
                          <a:spcPts val="470"/>
                        </a:spcBef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Supervised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classifiers</a:t>
                      </a:r>
                      <a:r>
                        <a:rPr sz="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N,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P,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K,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pH,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91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organic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carbon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6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71120">
                        <a:lnSpc>
                          <a:spcPct val="956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automate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fertility</a:t>
                      </a:r>
                      <a:r>
                        <a:rPr sz="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grading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test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values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 marR="181610">
                        <a:lnSpc>
                          <a:spcPct val="956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Validate</a:t>
                      </a:r>
                      <a:r>
                        <a:rPr sz="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field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regions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97155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assessment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1594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[Add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authors,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year,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journal/conference,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volume/pages,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DOI]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93040">
                        <a:lnSpc>
                          <a:spcPct val="95800"/>
                        </a:lnSpc>
                      </a:pPr>
                      <a:r>
                        <a:rPr sz="800" spc="-2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interpretable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rules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farmers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88265">
                        <a:lnSpc>
                          <a:spcPct val="958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transparent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soil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classifiers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09855">
                        <a:lnSpc>
                          <a:spcPct val="95600"/>
                        </a:lnSpc>
                        <a:spcBef>
                          <a:spcPts val="459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Tree;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Gini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entropy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splitting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19380">
                        <a:lnSpc>
                          <a:spcPct val="95600"/>
                        </a:lnSpc>
                        <a:spcBef>
                          <a:spcPts val="459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Trees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readable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rules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overfit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 marR="96520">
                        <a:lnSpc>
                          <a:spcPts val="919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Apply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pruning</a:t>
                      </a:r>
                      <a:r>
                        <a:rPr sz="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cross-validation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83185">
                        <a:lnSpc>
                          <a:spcPct val="95400"/>
                        </a:lnSpc>
                        <a:spcBef>
                          <a:spcPts val="465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property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1594">
                        <a:lnSpc>
                          <a:spcPct val="95400"/>
                        </a:lnSpc>
                        <a:spcBef>
                          <a:spcPts val="465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[Add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authors,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year,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journal/conference,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volume/pages,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DOI]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 marR="128270">
                        <a:lnSpc>
                          <a:spcPct val="956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high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variance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73990">
                        <a:lnSpc>
                          <a:spcPct val="95400"/>
                        </a:lnSpc>
                        <a:spcBef>
                          <a:spcPts val="465"/>
                        </a:spcBef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robustness</a:t>
                      </a:r>
                      <a:r>
                        <a:rPr sz="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94945">
                        <a:lnSpc>
                          <a:spcPct val="956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Forest;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bagging;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subsampling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52729" algn="just">
                        <a:lnSpc>
                          <a:spcPct val="95400"/>
                        </a:lnSpc>
                        <a:spcBef>
                          <a:spcPts val="465"/>
                        </a:spcBef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Ensembles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generalize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trees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 marR="195580">
                        <a:lnSpc>
                          <a:spcPct val="956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explainability</a:t>
                      </a:r>
                      <a:r>
                        <a:rPr sz="8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ensembles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78740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nutrient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(N, P,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K)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prediction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1594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[Add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authors,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year,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journal/conference,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volume/pages,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DOI]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80010">
                        <a:lnSpc>
                          <a:spcPct val="958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Nutrients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interact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hard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judge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manually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15570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Predict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quality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macronutrient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levels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05410">
                        <a:lnSpc>
                          <a:spcPct val="95600"/>
                        </a:lnSpc>
                        <a:spcBef>
                          <a:spcPts val="459"/>
                        </a:spcBef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N,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P, K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organic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matter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95580">
                        <a:lnSpc>
                          <a:spcPct val="958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Nutrient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variables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are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predictors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 marR="69850">
                        <a:lnSpc>
                          <a:spcPts val="91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micronutrients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weather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89865">
                        <a:lnSpc>
                          <a:spcPts val="91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Bagging</a:t>
                      </a:r>
                      <a:r>
                        <a:rPr sz="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ensemble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1594">
                        <a:lnSpc>
                          <a:spcPts val="91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[Add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authors,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year,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journal/conference,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74930">
                        <a:lnSpc>
                          <a:spcPts val="91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Unclear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gain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ensembles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over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54940">
                        <a:lnSpc>
                          <a:spcPts val="91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Compare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336550">
                        <a:lnSpc>
                          <a:spcPts val="91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Bagging;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Random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22555">
                        <a:lnSpc>
                          <a:spcPts val="91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Ensembles</a:t>
                      </a:r>
                      <a:r>
                        <a:rPr sz="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accurate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08915">
                        <a:lnSpc>
                          <a:spcPts val="91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boosting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well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4172" y="640080"/>
          <a:ext cx="6620509" cy="2606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6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9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9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78105">
                        <a:lnSpc>
                          <a:spcPts val="91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versus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trees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259715">
                        <a:lnSpc>
                          <a:spcPts val="91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volume/pages,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DOI]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35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tree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97485">
                        <a:lnSpc>
                          <a:spcPts val="91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single-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38430">
                        <a:lnSpc>
                          <a:spcPts val="91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Forest;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Tree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935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stable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52400">
                        <a:lnSpc>
                          <a:spcPct val="954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Pruning</a:t>
                      </a:r>
                      <a:r>
                        <a:rPr sz="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overfitting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trees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1594">
                        <a:lnSpc>
                          <a:spcPct val="954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[Add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authors,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year,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journal/conference,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volume/pages,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DOI]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83820">
                        <a:lnSpc>
                          <a:spcPct val="95600"/>
                        </a:lnSpc>
                        <a:spcBef>
                          <a:spcPts val="465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Unpruned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trees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memorize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81915">
                        <a:lnSpc>
                          <a:spcPct val="954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bias–variance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trade-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off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96850">
                        <a:lnSpc>
                          <a:spcPct val="954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Pre-pruning;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cost-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pruning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33985">
                        <a:lnSpc>
                          <a:spcPct val="954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Pruning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improves</a:t>
                      </a:r>
                      <a:r>
                        <a:rPr sz="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test-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generalization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30504">
                        <a:lnSpc>
                          <a:spcPct val="95600"/>
                        </a:lnSpc>
                        <a:spcBef>
                          <a:spcPts val="465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Tune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depth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leaf</a:t>
                      </a:r>
                      <a:r>
                        <a:rPr sz="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systematically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23189" algn="just">
                        <a:lnSpc>
                          <a:spcPct val="95600"/>
                        </a:lnSpc>
                        <a:spcBef>
                          <a:spcPts val="465"/>
                        </a:spcBef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Missing-value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imputation</a:t>
                      </a:r>
                      <a:r>
                        <a:rPr sz="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datasets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1594">
                        <a:lnSpc>
                          <a:spcPct val="954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[Add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authors,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year,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journal/conference,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volume/pages,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DOI]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18440">
                        <a:lnSpc>
                          <a:spcPct val="954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records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often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have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readings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76200">
                        <a:lnSpc>
                          <a:spcPct val="95600"/>
                        </a:lnSpc>
                        <a:spcBef>
                          <a:spcPts val="465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Handle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bias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51130">
                        <a:lnSpc>
                          <a:spcPct val="954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Mean/median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model-based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imputation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71120">
                        <a:lnSpc>
                          <a:spcPct val="95600"/>
                        </a:lnSpc>
                        <a:spcBef>
                          <a:spcPts val="465"/>
                        </a:spcBef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Imputation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choice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affects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82550">
                        <a:lnSpc>
                          <a:spcPct val="95600"/>
                        </a:lnSpc>
                        <a:spcBef>
                          <a:spcPts val="465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Compare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imputation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methods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7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06680">
                        <a:lnSpc>
                          <a:spcPct val="954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importance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for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indicators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1594">
                        <a:lnSpc>
                          <a:spcPct val="954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[Add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authors,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year,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journal/conference,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volume/pages,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DOI]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85725">
                        <a:lnSpc>
                          <a:spcPct val="95600"/>
                        </a:lnSpc>
                        <a:spcBef>
                          <a:spcPts val="455"/>
                        </a:spcBef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Stakeholders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need to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know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factors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21285">
                        <a:lnSpc>
                          <a:spcPct val="95600"/>
                        </a:lnSpc>
                        <a:spcBef>
                          <a:spcPts val="455"/>
                        </a:spcBef>
                      </a:pPr>
                      <a:r>
                        <a:rPr sz="800" spc="-20" dirty="0">
                          <a:latin typeface="Times New Roman"/>
                          <a:cs typeface="Times New Roman"/>
                        </a:rPr>
                        <a:t>Rank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influential</a:t>
                      </a:r>
                      <a:r>
                        <a:rPr sz="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attributes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17804">
                        <a:lnSpc>
                          <a:spcPct val="95400"/>
                        </a:lnSpc>
                      </a:pPr>
                      <a:r>
                        <a:rPr sz="800" spc="-20" dirty="0">
                          <a:latin typeface="Times New Roman"/>
                          <a:cs typeface="Times New Roman"/>
                        </a:rPr>
                        <a:t>Gini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importance;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permutation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importance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33985">
                        <a:lnSpc>
                          <a:spcPct val="95600"/>
                        </a:lnSpc>
                        <a:spcBef>
                          <a:spcPts val="455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Few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attributes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drive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prediction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 marR="126364">
                        <a:lnSpc>
                          <a:spcPts val="91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SHAP-style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explanations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59690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Cross-validation</a:t>
                      </a:r>
                      <a:r>
                        <a:rPr sz="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leakage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agricultural</a:t>
                      </a:r>
                      <a:r>
                        <a:rPr sz="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ML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1594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[Add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authors,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year,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journal/conference,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volume/pages,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DOI]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344170">
                        <a:lnSpc>
                          <a:spcPct val="958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Leakage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inflates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reported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106045">
                        <a:lnSpc>
                          <a:spcPct val="95600"/>
                        </a:lnSpc>
                        <a:spcBef>
                          <a:spcPts val="459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Obtain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reliable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estimates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02565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Stratified</a:t>
                      </a:r>
                      <a:r>
                        <a:rPr sz="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fold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CV;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leakage-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safe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pipelines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67310">
                        <a:lnSpc>
                          <a:spcPct val="95800"/>
                        </a:lnSpc>
                      </a:pP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Proper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gives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trustworthy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results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 marR="166370">
                        <a:lnSpc>
                          <a:spcPts val="91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validation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89865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agriculture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61594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[Add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authors,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year,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journal/conference,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volume/pages,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DOI]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10489" algn="just">
                        <a:lnSpc>
                          <a:spcPct val="95600"/>
                        </a:lnSpc>
                        <a:spcBef>
                          <a:spcPts val="459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rarely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reach</a:t>
                      </a:r>
                      <a:r>
                        <a:rPr sz="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practical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use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233045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prediction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toward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deployment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55575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Decision-support</a:t>
                      </a:r>
                      <a:r>
                        <a:rPr sz="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tools;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web/mobile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apps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65405">
                        <a:lnSpc>
                          <a:spcPct val="95800"/>
                        </a:lnSpc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sz="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predictions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guide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fertilizer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 plans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57480" algn="just">
                        <a:lnSpc>
                          <a:spcPct val="95600"/>
                        </a:lnSpc>
                        <a:spcBef>
                          <a:spcPts val="459"/>
                        </a:spcBef>
                      </a:pPr>
                      <a:r>
                        <a:rPr sz="800" dirty="0">
                          <a:latin typeface="Times New Roman"/>
                          <a:cs typeface="Times New Roman"/>
                        </a:rPr>
                        <a:t>Integrate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soil</a:t>
                      </a:r>
                      <a:r>
                        <a:rPr sz="8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8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spc="-10" dirty="0">
                          <a:latin typeface="Times New Roman"/>
                          <a:cs typeface="Times New Roman"/>
                        </a:rPr>
                        <a:t>scoring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73100" y="3534155"/>
            <a:ext cx="3557904" cy="775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189865" algn="l"/>
              </a:tabLst>
            </a:pPr>
            <a:r>
              <a:rPr sz="1400" b="1" spc="-10" dirty="0">
                <a:solidFill>
                  <a:srgbClr val="365F91"/>
                </a:solidFill>
                <a:latin typeface="Times New Roman"/>
                <a:cs typeface="Times New Roman"/>
              </a:rPr>
              <a:t>Methodology</a:t>
            </a:r>
            <a:endParaRPr sz="14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Proposed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System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Flow</a:t>
            </a:r>
            <a:r>
              <a:rPr sz="1300" b="1" spc="-3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Diagram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Proposed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flow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project: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819" y="4570196"/>
            <a:ext cx="5027287" cy="23909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3100" y="7187958"/>
            <a:ext cx="6416040" cy="166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0970">
              <a:lnSpc>
                <a:spcPct val="1100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 </a:t>
            </a:r>
            <a:r>
              <a:rPr sz="1100" spc="-10" dirty="0">
                <a:latin typeface="Times New Roman"/>
                <a:cs typeface="Times New Roman"/>
              </a:rPr>
              <a:t>Missing-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Imputation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Encoding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Engineering/Selection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→ </a:t>
            </a:r>
            <a:r>
              <a:rPr sz="1100" dirty="0">
                <a:latin typeface="Times New Roman"/>
                <a:cs typeface="Times New Roman"/>
              </a:rPr>
              <a:t>Train/Test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Split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(Gini/Entropy,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Pruning)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(Bagging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Subsampling)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Cross-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→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Importance.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3.2</a:t>
            </a:r>
            <a:r>
              <a:rPr sz="1300" b="1" spc="-4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Dataset</a:t>
            </a:r>
            <a:r>
              <a:rPr sz="1300" b="1" spc="-2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Description</a:t>
            </a: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Dataset: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[dataset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name/source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name].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CSV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 samples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parameters </a:t>
            </a:r>
            <a:r>
              <a:rPr sz="1100" dirty="0">
                <a:latin typeface="Times New Roman"/>
                <a:cs typeface="Times New Roman"/>
              </a:rPr>
              <a:t>pH,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nitrogen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(N),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phosphorus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(P),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potassium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(K),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organic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moisture,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target </a:t>
            </a:r>
            <a:r>
              <a:rPr sz="1100" spc="-10" dirty="0">
                <a:latin typeface="Times New Roman"/>
                <a:cs typeface="Times New Roman"/>
              </a:rPr>
              <a:t>class. </a:t>
            </a:r>
            <a:r>
              <a:rPr sz="1100" dirty="0">
                <a:latin typeface="Times New Roman"/>
                <a:cs typeface="Times New Roman"/>
              </a:rPr>
              <a:t>[Add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records,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distribution,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details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from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file.]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593674"/>
            <a:ext cx="6419215" cy="86836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8445" lvl="1" indent="-245745">
              <a:lnSpc>
                <a:spcPct val="100000"/>
              </a:lnSpc>
              <a:spcBef>
                <a:spcPts val="280"/>
              </a:spcBef>
              <a:buAutoNum type="arabicPeriod" startAt="3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Experimental</a:t>
            </a:r>
            <a:r>
              <a:rPr sz="1300" b="1" spc="-6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20" dirty="0">
                <a:solidFill>
                  <a:srgbClr val="4F81BC"/>
                </a:solidFill>
                <a:latin typeface="Times New Roman"/>
                <a:cs typeface="Times New Roman"/>
              </a:rPr>
              <a:t>Setup</a:t>
            </a:r>
            <a:endParaRPr sz="1300">
              <a:latin typeface="Times New Roman"/>
              <a:cs typeface="Times New Roman"/>
            </a:endParaRPr>
          </a:p>
          <a:p>
            <a:pPr marL="12700" marR="158750">
              <a:lnSpc>
                <a:spcPct val="110300"/>
              </a:lnSpc>
              <a:spcBef>
                <a:spcPts val="30"/>
              </a:spcBef>
            </a:pPr>
            <a:r>
              <a:rPr sz="1100" dirty="0">
                <a:latin typeface="Times New Roman"/>
                <a:cs typeface="Times New Roman"/>
              </a:rPr>
              <a:t>Python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3.10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above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Windows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10/11,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macOS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Linux,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Jupyter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Notebook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Google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Colab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Code. </a:t>
            </a:r>
            <a:r>
              <a:rPr sz="1100" dirty="0">
                <a:latin typeface="Times New Roman"/>
                <a:cs typeface="Times New Roman"/>
              </a:rPr>
              <a:t>NumPy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Pandas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preprocessing,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scikit-</a:t>
            </a:r>
            <a:r>
              <a:rPr sz="1100" dirty="0">
                <a:latin typeface="Times New Roman"/>
                <a:cs typeface="Times New Roman"/>
              </a:rPr>
              <a:t>learn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Random </a:t>
            </a:r>
            <a:r>
              <a:rPr sz="1100" dirty="0">
                <a:latin typeface="Times New Roman"/>
                <a:cs typeface="Times New Roman"/>
              </a:rPr>
              <a:t>Forest,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cross-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evaluation metrics,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Matplotlib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Seaborn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EDA 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visualization. </a:t>
            </a:r>
            <a:r>
              <a:rPr sz="1100" dirty="0">
                <a:latin typeface="Times New Roman"/>
                <a:cs typeface="Times New Roman"/>
              </a:rPr>
              <a:t>[Record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exact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hardware,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Python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library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run.]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20"/>
              </a:spcBef>
              <a:buAutoNum type="arabicPeriod" startAt="4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Data</a:t>
            </a:r>
            <a:r>
              <a:rPr sz="1300" b="1" spc="-2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Preprocessing</a:t>
            </a:r>
            <a:endParaRPr sz="1300">
              <a:latin typeface="Times New Roman"/>
              <a:cs typeface="Times New Roman"/>
            </a:endParaRPr>
          </a:p>
          <a:p>
            <a:pPr marL="240665" lvl="2" indent="-227965">
              <a:lnSpc>
                <a:spcPct val="100000"/>
              </a:lnSpc>
              <a:spcBef>
                <a:spcPts val="26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inspection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schema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(soil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parameter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columns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target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label)</a:t>
            </a:r>
            <a:endParaRPr sz="1100">
              <a:latin typeface="Times New Roman"/>
              <a:cs typeface="Times New Roman"/>
            </a:endParaRPr>
          </a:p>
          <a:p>
            <a:pPr marL="240665" lvl="2" indent="-22796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Duplicate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removal</a:t>
            </a:r>
            <a:endParaRPr sz="1100">
              <a:latin typeface="Times New Roman"/>
              <a:cs typeface="Times New Roman"/>
            </a:endParaRPr>
          </a:p>
          <a:p>
            <a:pPr marL="240665" lvl="2" indent="-22796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10" dirty="0">
                <a:latin typeface="Times New Roman"/>
                <a:cs typeface="Times New Roman"/>
              </a:rPr>
              <a:t>Missing-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 and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imputation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parameters</a:t>
            </a:r>
            <a:endParaRPr sz="1100">
              <a:latin typeface="Times New Roman"/>
              <a:cs typeface="Times New Roman"/>
            </a:endParaRPr>
          </a:p>
          <a:p>
            <a:pPr marL="240665" lvl="2" indent="-22796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Outlier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analysis/treatment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justified</a:t>
            </a:r>
            <a:endParaRPr sz="1100">
              <a:latin typeface="Times New Roman"/>
              <a:cs typeface="Times New Roman"/>
            </a:endParaRPr>
          </a:p>
          <a:p>
            <a:pPr marL="240665" lvl="2" indent="-22796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Categorical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encoding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labels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categorical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attributes)</a:t>
            </a:r>
            <a:endParaRPr sz="1100">
              <a:latin typeface="Times New Roman"/>
              <a:cs typeface="Times New Roman"/>
            </a:endParaRPr>
          </a:p>
          <a:p>
            <a:pPr marL="240665" lvl="2" indent="-227965">
              <a:lnSpc>
                <a:spcPct val="10000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Numerical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scaling/standardization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(not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mandatory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tree-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models)</a:t>
            </a:r>
            <a:endParaRPr sz="1100">
              <a:latin typeface="Times New Roman"/>
              <a:cs typeface="Times New Roman"/>
            </a:endParaRPr>
          </a:p>
          <a:p>
            <a:pPr marL="240665" lvl="2" indent="-22796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10" dirty="0">
                <a:latin typeface="Times New Roman"/>
                <a:cs typeface="Times New Roman"/>
              </a:rPr>
              <a:t>Target-</a:t>
            </a:r>
            <a:r>
              <a:rPr sz="1100" dirty="0">
                <a:latin typeface="Times New Roman"/>
                <a:cs typeface="Times New Roman"/>
              </a:rPr>
              <a:t>label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preparation</a:t>
            </a:r>
            <a:endParaRPr sz="1100">
              <a:latin typeface="Times New Roman"/>
              <a:cs typeface="Times New Roman"/>
            </a:endParaRPr>
          </a:p>
          <a:p>
            <a:pPr marL="241300" marR="259715" lvl="2" indent="-228600">
              <a:lnSpc>
                <a:spcPct val="110000"/>
              </a:lnSpc>
              <a:spcBef>
                <a:spcPts val="85"/>
              </a:spcBef>
              <a:buFont typeface="Symbol"/>
              <a:buChar char=""/>
              <a:tabLst>
                <a:tab pos="241300" algn="l"/>
              </a:tabLst>
            </a:pPr>
            <a:r>
              <a:rPr sz="1100" dirty="0">
                <a:latin typeface="Times New Roman"/>
                <a:cs typeface="Times New Roman"/>
              </a:rPr>
              <a:t>Stratified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train/test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split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cross-</a:t>
            </a:r>
            <a:r>
              <a:rPr sz="1100" dirty="0">
                <a:latin typeface="Times New Roman"/>
                <a:cs typeface="Times New Roman"/>
              </a:rPr>
              <a:t>validation,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preprocessing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fitted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prevent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leakage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20"/>
              </a:spcBef>
              <a:buAutoNum type="arabicPeriod" startAt="5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Exploratory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Data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Analysis</a:t>
            </a:r>
            <a:endParaRPr sz="1300">
              <a:latin typeface="Times New Roman"/>
              <a:cs typeface="Times New Roman"/>
            </a:endParaRPr>
          </a:p>
          <a:p>
            <a:pPr marL="12700" marR="8255">
              <a:lnSpc>
                <a:spcPct val="110000"/>
              </a:lnSpc>
              <a:spcBef>
                <a:spcPts val="45"/>
              </a:spcBef>
            </a:pPr>
            <a:r>
              <a:rPr sz="1100" dirty="0">
                <a:latin typeface="Times New Roman"/>
                <a:cs typeface="Times New Roman"/>
              </a:rPr>
              <a:t>EDA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covers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organic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matter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moisture;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balance;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correlation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 parameters;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box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plots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scatter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plots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each parameter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against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 quality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class;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outlier </a:t>
            </a:r>
            <a:r>
              <a:rPr sz="1100" dirty="0">
                <a:latin typeface="Times New Roman"/>
                <a:cs typeface="Times New Roman"/>
              </a:rPr>
              <a:t>inspection.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[Insert 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actual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plots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dataset.]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20"/>
              </a:spcBef>
              <a:buAutoNum type="arabicPeriod" startAt="6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Feature</a:t>
            </a:r>
            <a:r>
              <a:rPr sz="1300" b="1" spc="-4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Engineering</a:t>
            </a:r>
            <a:r>
              <a:rPr sz="1300" b="1" spc="-4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and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Feature</a:t>
            </a:r>
            <a:r>
              <a:rPr sz="1300" b="1" spc="-4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Selection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(if</a:t>
            </a:r>
            <a:r>
              <a:rPr sz="1300" b="1" spc="-4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applicable)</a:t>
            </a:r>
            <a:endParaRPr sz="1300">
              <a:latin typeface="Times New Roman"/>
              <a:cs typeface="Times New Roman"/>
            </a:endParaRPr>
          </a:p>
          <a:p>
            <a:pPr marL="12700" marR="132715">
              <a:lnSpc>
                <a:spcPct val="110300"/>
              </a:lnSpc>
              <a:spcBef>
                <a:spcPts val="40"/>
              </a:spcBef>
            </a:pP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imputing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missing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encoding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categorical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justified,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deriving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nutrient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ratios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N:P:K).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guided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correlation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feature-</a:t>
            </a:r>
            <a:r>
              <a:rPr sz="1100" dirty="0">
                <a:latin typeface="Times New Roman"/>
                <a:cs typeface="Times New Roman"/>
              </a:rPr>
              <a:t>importance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trees,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target label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never used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construct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predictive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[List </a:t>
            </a:r>
            <a:r>
              <a:rPr sz="1100" dirty="0">
                <a:latin typeface="Times New Roman"/>
                <a:cs typeface="Times New Roman"/>
              </a:rPr>
              <a:t>selected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rejected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reasons.]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20"/>
              </a:spcBef>
              <a:buAutoNum type="arabicPeriod" startAt="7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Model</a:t>
            </a:r>
            <a:r>
              <a:rPr sz="1300" b="1" spc="-3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Building</a:t>
            </a:r>
            <a:r>
              <a:rPr sz="1300" b="1" spc="-2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and</a:t>
            </a:r>
            <a:r>
              <a:rPr sz="1300" b="1" spc="-4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Training</a:t>
            </a:r>
            <a:endParaRPr sz="1300">
              <a:latin typeface="Times New Roman"/>
              <a:cs typeface="Times New Roman"/>
            </a:endParaRPr>
          </a:p>
          <a:p>
            <a:pPr marL="12700" marR="251460">
              <a:lnSpc>
                <a:spcPct val="110000"/>
              </a:lnSpc>
              <a:spcBef>
                <a:spcPts val="30"/>
              </a:spcBef>
            </a:pPr>
            <a:r>
              <a:rPr sz="1100" dirty="0">
                <a:latin typeface="Times New Roman"/>
                <a:cs typeface="Times New Roman"/>
              </a:rPr>
              <a:t>Baseline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model: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Gini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impurity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entropy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splitting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criteria,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pruning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max_depth,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min_samples_split,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min_samples_leaf,</a:t>
            </a:r>
            <a:r>
              <a:rPr sz="1100" spc="-10" dirty="0">
                <a:latin typeface="Times New Roman"/>
                <a:cs typeface="Times New Roman"/>
              </a:rPr>
              <a:t> cost-</a:t>
            </a:r>
            <a:r>
              <a:rPr sz="1100" dirty="0">
                <a:latin typeface="Times New Roman"/>
                <a:cs typeface="Times New Roman"/>
              </a:rPr>
              <a:t>complexity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pruning)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control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overfitting.</a:t>
            </a:r>
            <a:endParaRPr sz="1100">
              <a:latin typeface="Times New Roman"/>
              <a:cs typeface="Times New Roman"/>
            </a:endParaRPr>
          </a:p>
          <a:p>
            <a:pPr marL="12700" marR="139065">
              <a:lnSpc>
                <a:spcPct val="1100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Proposed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model: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ensemble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bagging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(bootstrap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sampling)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 </a:t>
            </a:r>
            <a:r>
              <a:rPr sz="1100" dirty="0">
                <a:latin typeface="Times New Roman"/>
                <a:cs typeface="Times New Roman"/>
              </a:rPr>
              <a:t>subsampling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split,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n_estimators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random_state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fixed.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impurity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splitting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objective 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trained 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 </a:t>
            </a:r>
            <a:r>
              <a:rPr sz="1100" spc="-10" dirty="0">
                <a:latin typeface="Times New Roman"/>
                <a:cs typeface="Times New Roman"/>
              </a:rPr>
              <a:t>cross-</a:t>
            </a:r>
            <a:r>
              <a:rPr sz="1100" dirty="0">
                <a:latin typeface="Times New Roman"/>
                <a:cs typeface="Times New Roman"/>
              </a:rPr>
              <a:t>validation.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[Record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final </a:t>
            </a:r>
            <a:r>
              <a:rPr sz="1100" dirty="0">
                <a:latin typeface="Times New Roman"/>
                <a:cs typeface="Times New Roman"/>
              </a:rPr>
              <a:t>parameter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values.]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30"/>
              </a:spcBef>
              <a:buAutoNum type="arabicPeriod" startAt="8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Hyperparameter</a:t>
            </a:r>
            <a:r>
              <a:rPr sz="1300" b="1" spc="-6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Tuning(if</a:t>
            </a:r>
            <a:r>
              <a:rPr sz="1300" b="1" spc="-8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applicable)</a:t>
            </a: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10300"/>
              </a:lnSpc>
              <a:spcBef>
                <a:spcPts val="30"/>
              </a:spcBef>
            </a:pPr>
            <a:r>
              <a:rPr sz="1100" dirty="0">
                <a:latin typeface="Times New Roman"/>
                <a:cs typeface="Times New Roman"/>
              </a:rPr>
              <a:t>Hyperparameter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tuning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grid 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 stratified</a:t>
            </a:r>
            <a:r>
              <a:rPr sz="1100" spc="-20" dirty="0">
                <a:latin typeface="Times New Roman"/>
                <a:cs typeface="Times New Roman"/>
              </a:rPr>
              <a:t> k-</a:t>
            </a:r>
            <a:r>
              <a:rPr sz="1100" dirty="0">
                <a:latin typeface="Times New Roman"/>
                <a:cs typeface="Times New Roman"/>
              </a:rPr>
              <a:t>fold </a:t>
            </a:r>
            <a:r>
              <a:rPr sz="1100" spc="-10" dirty="0">
                <a:latin typeface="Times New Roman"/>
                <a:cs typeface="Times New Roman"/>
              </a:rPr>
              <a:t>cross-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 </a:t>
            </a:r>
            <a:r>
              <a:rPr sz="1100" spc="-10" dirty="0">
                <a:latin typeface="Times New Roman"/>
                <a:cs typeface="Times New Roman"/>
              </a:rPr>
              <a:t>only.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space: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—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criterion,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max_depth,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min_samples_split,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min_samples_leaf,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ccp_alpha;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—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n_estimators,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max_depth,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max_features,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min_samples_leaf.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[Record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space </a:t>
            </a:r>
            <a:r>
              <a:rPr sz="1100" dirty="0">
                <a:latin typeface="Times New Roman"/>
                <a:cs typeface="Times New Roman"/>
              </a:rPr>
              <a:t>actually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parameters.]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30"/>
              </a:spcBef>
              <a:buAutoNum type="arabicPeriod" startAt="9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Model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Evaluation</a:t>
            </a:r>
            <a:endParaRPr sz="1300">
              <a:latin typeface="Times New Roman"/>
              <a:cs typeface="Times New Roman"/>
            </a:endParaRPr>
          </a:p>
          <a:p>
            <a:pPr marL="12700" marR="66040">
              <a:lnSpc>
                <a:spcPct val="110000"/>
              </a:lnSpc>
              <a:spcBef>
                <a:spcPts val="30"/>
              </a:spcBef>
            </a:pPr>
            <a:r>
              <a:rPr sz="1100" dirty="0">
                <a:latin typeface="Times New Roman"/>
                <a:cs typeface="Times New Roman"/>
              </a:rPr>
              <a:t>Classification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metrics: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Precision,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Recall,</a:t>
            </a:r>
            <a:r>
              <a:rPr sz="1100" spc="-10" dirty="0">
                <a:latin typeface="Times New Roman"/>
                <a:cs typeface="Times New Roman"/>
              </a:rPr>
              <a:t> F1-</a:t>
            </a:r>
            <a:r>
              <a:rPr sz="1100" dirty="0">
                <a:latin typeface="Times New Roman"/>
                <a:cs typeface="Times New Roman"/>
              </a:rPr>
              <a:t>score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(macro/weighted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classes)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confusion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matrix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 the</a:t>
            </a:r>
            <a:r>
              <a:rPr sz="1100" spc="-10" dirty="0">
                <a:latin typeface="Times New Roman"/>
                <a:cs typeface="Times New Roman"/>
              </a:rPr>
              <a:t> held-</a:t>
            </a:r>
            <a:r>
              <a:rPr sz="1100" dirty="0">
                <a:latin typeface="Times New Roman"/>
                <a:cs typeface="Times New Roman"/>
              </a:rPr>
              <a:t>out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Cross-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±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reported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stability. </a:t>
            </a:r>
            <a:r>
              <a:rPr sz="1100" spc="-10" dirty="0">
                <a:latin typeface="Times New Roman"/>
                <a:cs typeface="Times New Roman"/>
              </a:rPr>
              <a:t>Feature-</a:t>
            </a:r>
            <a:r>
              <a:rPr sz="1100" dirty="0">
                <a:latin typeface="Times New Roman"/>
                <a:cs typeface="Times New Roman"/>
              </a:rPr>
              <a:t>importance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attributes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drive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predictions. </a:t>
            </a:r>
            <a:r>
              <a:rPr sz="1100" spc="-20" dirty="0">
                <a:latin typeface="Times New Roman"/>
                <a:cs typeface="Times New Roman"/>
              </a:rPr>
              <a:t>ROC-</a:t>
            </a:r>
            <a:r>
              <a:rPr sz="1100" dirty="0">
                <a:latin typeface="Times New Roman"/>
                <a:cs typeface="Times New Roman"/>
              </a:rPr>
              <a:t>AUC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 be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-10" dirty="0">
                <a:latin typeface="Times New Roman"/>
                <a:cs typeface="Times New Roman"/>
              </a:rPr>
              <a:t> applicable.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14159"/>
            <a:ext cx="6082030" cy="1302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05"/>
              </a:spcBef>
              <a:buAutoNum type="arabicPeriod" startAt="4"/>
              <a:tabLst>
                <a:tab pos="189865" algn="l"/>
              </a:tabLst>
            </a:pP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Results</a:t>
            </a:r>
            <a:r>
              <a:rPr sz="1400" b="1" spc="-30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and</a:t>
            </a:r>
            <a:r>
              <a:rPr sz="1400" b="1" spc="-2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65F91"/>
                </a:solidFill>
                <a:latin typeface="Times New Roman"/>
                <a:cs typeface="Times New Roman"/>
              </a:rPr>
              <a:t>Discussion</a:t>
            </a:r>
            <a:endParaRPr sz="14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80"/>
              </a:spcBef>
              <a:buAutoNum type="arabicPeriod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Preprocessing</a:t>
            </a:r>
            <a:r>
              <a:rPr sz="1300" b="1" spc="-7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Results</a:t>
            </a: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45"/>
              </a:spcBef>
            </a:pPr>
            <a:r>
              <a:rPr sz="1100" dirty="0">
                <a:latin typeface="Times New Roman"/>
                <a:cs typeface="Times New Roman"/>
              </a:rPr>
              <a:t>[Report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missing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before/after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imputation,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dimensions,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encoding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train/test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copied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actual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run.]</a:t>
            </a:r>
            <a:endParaRPr sz="1100">
              <a:latin typeface="Times New Roman"/>
              <a:cs typeface="Times New Roman"/>
            </a:endParaRPr>
          </a:p>
          <a:p>
            <a:pPr marL="258445" lvl="1" indent="-245745">
              <a:lnSpc>
                <a:spcPct val="100000"/>
              </a:lnSpc>
              <a:spcBef>
                <a:spcPts val="1120"/>
              </a:spcBef>
              <a:buAutoNum type="arabicPeriod" startAt="2"/>
              <a:tabLst>
                <a:tab pos="258445" algn="l"/>
              </a:tabLst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Model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Performance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2751" y="1935479"/>
          <a:ext cx="6483350" cy="1964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marL="67945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Precision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Recall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F1-score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47015">
                        <a:lnSpc>
                          <a:spcPts val="126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CV</a:t>
                      </a:r>
                      <a:r>
                        <a:rPr sz="11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Score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(mean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±</a:t>
                      </a:r>
                      <a:r>
                        <a:rPr sz="11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370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study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67945" marR="202565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Tree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(Gini)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15">
                <a:tc>
                  <a:txBody>
                    <a:bodyPr/>
                    <a:lstStyle/>
                    <a:p>
                      <a:pPr marL="67945" marR="202565">
                        <a:lnSpc>
                          <a:spcPts val="126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Tree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(Entropy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/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pruned)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67945" marR="132715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Forest (default)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67945" marR="132715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Forest (tuned)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[Value]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73100" y="3987580"/>
            <a:ext cx="6396355" cy="52241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4.3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Visual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Results</a:t>
            </a:r>
            <a:r>
              <a:rPr sz="1300" b="1" spc="-35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4F81BC"/>
                </a:solidFill>
                <a:latin typeface="Times New Roman"/>
                <a:cs typeface="Times New Roman"/>
              </a:rPr>
              <a:t>and</a:t>
            </a:r>
            <a:r>
              <a:rPr sz="1300" b="1" spc="-20" dirty="0">
                <a:solidFill>
                  <a:srgbClr val="4F81BC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4F81BC"/>
                </a:solidFill>
                <a:latin typeface="Times New Roman"/>
                <a:cs typeface="Times New Roman"/>
              </a:rPr>
              <a:t>discussion</a:t>
            </a: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10500"/>
              </a:lnSpc>
              <a:spcBef>
                <a:spcPts val="25"/>
              </a:spcBef>
            </a:pPr>
            <a:r>
              <a:rPr sz="1100" dirty="0">
                <a:latin typeface="Times New Roman"/>
                <a:cs typeface="Times New Roman"/>
              </a:rPr>
              <a:t>[Insert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figures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actual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run: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plots,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confusion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matrices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pruned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visualization,</a:t>
            </a:r>
            <a:r>
              <a:rPr sz="1100" spc="-10" dirty="0">
                <a:latin typeface="Times New Roman"/>
                <a:cs typeface="Times New Roman"/>
              </a:rPr>
              <a:t> cross-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comparison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feature-</a:t>
            </a:r>
            <a:r>
              <a:rPr sz="1100" dirty="0">
                <a:latin typeface="Times New Roman"/>
                <a:cs typeface="Times New Roman"/>
              </a:rPr>
              <a:t>importance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plot.]</a:t>
            </a:r>
            <a:endParaRPr sz="1100">
              <a:latin typeface="Times New Roman"/>
              <a:cs typeface="Times New Roman"/>
            </a:endParaRPr>
          </a:p>
          <a:p>
            <a:pPr marL="12700" marR="8255">
              <a:lnSpc>
                <a:spcPct val="110300"/>
              </a:lnSpc>
              <a:spcBef>
                <a:spcPts val="994"/>
              </a:spcBef>
            </a:pPr>
            <a:r>
              <a:rPr sz="1100" dirty="0">
                <a:latin typeface="Times New Roman"/>
                <a:cs typeface="Times New Roman"/>
              </a:rPr>
              <a:t>[Interpret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results: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Forest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measured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metrics,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explain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variance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bagging),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discuss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misclassified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25" dirty="0">
                <a:latin typeface="Times New Roman"/>
                <a:cs typeface="Times New Roman"/>
              </a:rPr>
              <a:t> the </a:t>
            </a:r>
            <a:r>
              <a:rPr sz="1100" dirty="0">
                <a:latin typeface="Times New Roman"/>
                <a:cs typeface="Times New Roman"/>
              </a:rPr>
              <a:t>confusion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matrices,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bias–</a:t>
            </a:r>
            <a:r>
              <a:rPr sz="1100" dirty="0">
                <a:latin typeface="Times New Roman"/>
                <a:cs typeface="Times New Roman"/>
              </a:rPr>
              <a:t>variance</a:t>
            </a:r>
            <a:r>
              <a:rPr sz="1100" spc="-10" dirty="0">
                <a:latin typeface="Times New Roman"/>
                <a:cs typeface="Times New Roman"/>
              </a:rPr>
              <a:t> trade-</a:t>
            </a:r>
            <a:r>
              <a:rPr sz="1100" dirty="0">
                <a:latin typeface="Times New Roman"/>
                <a:cs typeface="Times New Roman"/>
              </a:rPr>
              <a:t>off, generalization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unseen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samples,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attributes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influential.]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100">
              <a:latin typeface="Times New Roman"/>
              <a:cs typeface="Times New Roman"/>
            </a:endParaRPr>
          </a:p>
          <a:p>
            <a:pPr marL="189865" indent="-177165">
              <a:lnSpc>
                <a:spcPct val="100000"/>
              </a:lnSpc>
              <a:buAutoNum type="arabicPeriod" startAt="5"/>
              <a:tabLst>
                <a:tab pos="189865" algn="l"/>
              </a:tabLst>
            </a:pPr>
            <a:r>
              <a:rPr sz="1400" b="1" spc="-10" dirty="0">
                <a:solidFill>
                  <a:srgbClr val="365F91"/>
                </a:solidFill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 marL="12700" marR="31115">
              <a:lnSpc>
                <a:spcPct val="110000"/>
              </a:lnSpc>
              <a:spcBef>
                <a:spcPts val="75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presents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quality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classification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Random </a:t>
            </a:r>
            <a:r>
              <a:rPr sz="1100" dirty="0">
                <a:latin typeface="Times New Roman"/>
                <a:cs typeface="Times New Roman"/>
              </a:rPr>
              <a:t>Forest.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parameters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(pH,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organic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matter,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moisture)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preprocessed,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imputed,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encoded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precision,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recall,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F1-score, </a:t>
            </a:r>
            <a:r>
              <a:rPr sz="1100" dirty="0">
                <a:latin typeface="Times New Roman"/>
                <a:cs typeface="Times New Roman"/>
              </a:rPr>
              <a:t>confusion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matrix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cross-</a:t>
            </a:r>
            <a:r>
              <a:rPr sz="1100" dirty="0">
                <a:latin typeface="Times New Roman"/>
                <a:cs typeface="Times New Roman"/>
              </a:rPr>
              <a:t>validation.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[State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measured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performance.]</a:t>
            </a:r>
            <a:r>
              <a:rPr sz="1100" spc="-10" dirty="0">
                <a:latin typeface="Times New Roman"/>
                <a:cs typeface="Times New Roman"/>
              </a:rPr>
              <a:t> Feature-importance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 influential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 attributes,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interpretable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insight 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agricultural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stakeholders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supporting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crop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planning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fertilizer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management.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100">
              <a:latin typeface="Times New Roman"/>
              <a:cs typeface="Times New Roman"/>
            </a:endParaRPr>
          </a:p>
          <a:p>
            <a:pPr marL="189865" indent="-177165">
              <a:lnSpc>
                <a:spcPct val="100000"/>
              </a:lnSpc>
              <a:buAutoNum type="arabicPeriod" startAt="6"/>
              <a:tabLst>
                <a:tab pos="189865" algn="l"/>
              </a:tabLst>
            </a:pP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Future</a:t>
            </a:r>
            <a:r>
              <a:rPr sz="1400" b="1" spc="-4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365F91"/>
                </a:solidFill>
                <a:latin typeface="Times New Roman"/>
                <a:cs typeface="Times New Roman"/>
              </a:rPr>
              <a:t>Work</a:t>
            </a:r>
            <a:endParaRPr sz="14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27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larger 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diverse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soil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datasets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regions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seasons.</a:t>
            </a:r>
            <a:endParaRPr sz="11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Evaluate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Gradient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Boosting,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XGBoost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SVM.</a:t>
            </a:r>
            <a:endParaRPr sz="11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Perform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hyperparameter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optimization.</a:t>
            </a:r>
            <a:endParaRPr sz="11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Investigate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explainable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 techniques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sample-</a:t>
            </a:r>
            <a:r>
              <a:rPr sz="1100" dirty="0">
                <a:latin typeface="Times New Roman"/>
                <a:cs typeface="Times New Roman"/>
              </a:rPr>
              <a:t>level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explanations.</a:t>
            </a:r>
            <a:endParaRPr sz="11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Add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micronutrients,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weather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remote-</a:t>
            </a:r>
            <a:r>
              <a:rPr sz="1100" dirty="0">
                <a:latin typeface="Times New Roman"/>
                <a:cs typeface="Times New Roman"/>
              </a:rPr>
              <a:t>sensing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data;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robustness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drift.</a:t>
            </a:r>
            <a:endParaRPr sz="11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219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Develop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deployable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web/mobile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IoT-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real-</a:t>
            </a:r>
            <a:r>
              <a:rPr sz="1100" dirty="0">
                <a:latin typeface="Times New Roman"/>
                <a:cs typeface="Times New Roman"/>
              </a:rPr>
              <a:t>time soil quality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predictor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farmers.</a:t>
            </a:r>
            <a:endParaRPr sz="1100">
              <a:latin typeface="Times New Roman"/>
              <a:cs typeface="Times New Roman"/>
            </a:endParaRPr>
          </a:p>
          <a:p>
            <a:pPr marL="240665" lvl="1" indent="-227965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Validate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external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datasets.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584107"/>
            <a:ext cx="6376035" cy="13976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solidFill>
                  <a:srgbClr val="365F91"/>
                </a:solidFill>
                <a:latin typeface="Times New Roman"/>
                <a:cs typeface="Times New Roman"/>
              </a:rPr>
              <a:t>7.</a:t>
            </a:r>
            <a:r>
              <a:rPr sz="1400" b="1" spc="-5" dirty="0">
                <a:solidFill>
                  <a:srgbClr val="365F91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365F91"/>
                </a:solidFill>
                <a:latin typeface="Times New Roman"/>
                <a:cs typeface="Times New Roman"/>
              </a:rPr>
              <a:t>References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Times New Roman"/>
                <a:cs typeface="Times New Roman"/>
              </a:rPr>
              <a:t>References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verified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papers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sources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actually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report.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supplied</a:t>
            </a:r>
            <a:endParaRPr sz="1100">
              <a:latin typeface="Times New Roman"/>
              <a:cs typeface="Times New Roman"/>
            </a:endParaRPr>
          </a:p>
          <a:p>
            <a:pPr marL="12700" marR="38735">
              <a:lnSpc>
                <a:spcPct val="1859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PPT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bibliographic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records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information,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invent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author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names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or </a:t>
            </a:r>
            <a:r>
              <a:rPr sz="1100" dirty="0">
                <a:latin typeface="Times New Roman"/>
                <a:cs typeface="Times New Roman"/>
              </a:rPr>
              <a:t>DOI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numbers.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 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verified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literature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sources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literature-</a:t>
            </a:r>
            <a:r>
              <a:rPr sz="1100" dirty="0">
                <a:latin typeface="Times New Roman"/>
                <a:cs typeface="Times New Roman"/>
              </a:rPr>
              <a:t>survey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table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-10" dirty="0">
                <a:latin typeface="Times New Roman"/>
                <a:cs typeface="Times New Roman"/>
              </a:rPr>
              <a:t> final </a:t>
            </a:r>
            <a:r>
              <a:rPr sz="1100" dirty="0">
                <a:latin typeface="Times New Roman"/>
                <a:cs typeface="Times New Roman"/>
              </a:rPr>
              <a:t>academic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submission.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300" y="3345180"/>
            <a:ext cx="129476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Signature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Guide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2300" y="3345180"/>
            <a:ext cx="9988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Course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Instructor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2754</Words>
  <Application>Microsoft Office PowerPoint</Application>
  <PresentationFormat>Custom</PresentationFormat>
  <Paragraphs>247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python-docx</dc:creator>
  <dc:description/>
  <cp:lastModifiedBy>Ganesh Agarwal</cp:lastModifiedBy>
  <cp:revision>1</cp:revision>
  <dcterms:created xsi:type="dcterms:W3CDTF">2026-10-05T14:04:46Z</dcterms:created>
  <dcterms:modified xsi:type="dcterms:W3CDTF">2026-10-05T14:08:34Z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2026-10-01T00:00:00Z</vt:filetime>
  </property>
  <property fmtid="{D5CDD505-2E9C-101B-9397-08002B2CF9AE}" pid="4" name="Creator">
    <vt:lpwstr>WPS Docs</vt:lpwstr>
  </property>
  <property fmtid="{D5CDD505-2E9C-101B-9397-08002B2CF9AE}" pid="5" name="LastSaved">
    <vt:filetime>2026-10-05T00:00:00Z</vt:filetime>
  </property>
  <property fmtid="{D5CDD505-2E9C-101B-9397-08002B2CF9AE}" pid="6" name="SourceModified">
    <vt:lpwstr>D:20261001142354+05'30'</vt:lpwstr>
  </property>
</Properties>
</file>